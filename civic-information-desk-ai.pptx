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206240" cy="4206240"/>
          </a:xfrm>
          <a:prstGeom prst="ellipse">
            <a:avLst/>
          </a:prstGeom>
          <a:solidFill>
            <a:srgbClr val="A93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solidFill>
            <a:srgbClr val="D9C98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INFORMATION DESK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Clerk for Permits, Tax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Local Regulations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multi-persona LLM assistant turns three department windows into one conversation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983480"/>
            <a:ext cx="2011680" cy="0"/>
          </a:xfrm>
          <a:prstGeom prst="line">
            <a:avLst/>
          </a:prstGeom>
          <a:noFill/>
          <a:ln w="31750">
            <a:solidFill>
              <a:srgbClr val="A932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WALKTHROUGH  ·  KEY FEATURES &amp; AI IMPLEMENTATION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front desk, three departments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shouldn't have to know which office handles their question. The Civic Information Desk is a single chat surface — styled like an old civic ledger — that routes each question to the right specialist and answers it with a live language model instead of a static FAQ page.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864" cy="566928"/>
          </a:xfrm>
          <a:prstGeom prst="rect">
            <a:avLst/>
          </a:prstGeom>
          <a:solidFill>
            <a:srgbClr val="A9322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035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 &amp; Licensing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Brisk, efficient — answer first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21608"/>
            <a:ext cx="54864" cy="566928"/>
          </a:xfrm>
          <a:prstGeom prst="rect">
            <a:avLst/>
          </a:prstGeom>
          <a:solidFill>
            <a:srgbClr val="A9322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941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Revenue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9959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— explains penalties clearly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379976"/>
            <a:ext cx="54864" cy="566928"/>
          </a:xfrm>
          <a:prstGeom prst="rect">
            <a:avLst/>
          </a:prstGeom>
          <a:solidFill>
            <a:srgbClr val="A9322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3525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Affairs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46542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precise, still helpful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038344"/>
            <a:ext cx="54864" cy="566928"/>
          </a:xfrm>
          <a:prstGeom prst="rect">
            <a:avLst/>
          </a:prstGeom>
          <a:solidFill>
            <a:srgbClr val="A9322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0109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Inquiries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5312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— helps you find the right window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06640" y="1417320"/>
            <a:ext cx="4206240" cy="470916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21488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778240" y="2148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personas, one 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30632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778240" y="30632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English, Spanish, Hindi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9776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778240" y="3977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modes: typed chat &amp; live voice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48920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778240" y="48920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pattern reused for every feature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0" y="5852160"/>
            <a:ext cx="3474720" cy="0"/>
          </a:xfrm>
          <a:prstGeom prst="line">
            <a:avLst/>
          </a:prstGeom>
          <a:noFill/>
          <a:ln w="12700">
            <a:solidFill>
              <a:srgbClr val="4A5A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5989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 endpoint, four voices — persona is entirely a prompt-engineering choice, not four models.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Information Desk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citizen can actually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74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550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Chat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8424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by text; answers arrive in the voice of the relevant department clerk.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508760"/>
            <a:ext cx="5074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4768" y="1709928"/>
            <a:ext cx="457200" cy="457200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11" name="Text 9"/>
          <p:cNvSpPr/>
          <p:nvPr/>
        </p:nvSpPr>
        <p:spPr>
          <a:xfrm>
            <a:off x="6144768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2280" y="16550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Check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198424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plan before filing — get a verdict, reasoning, and next step.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074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172968"/>
            <a:ext cx="457200" cy="457200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11810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 (Talk Mode)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44728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streaming voice call with the same AI clerk, mic in and audio out.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971800"/>
            <a:ext cx="5074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3172968"/>
            <a:ext cx="457200" cy="457200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21" name="Text 19"/>
          <p:cNvSpPr/>
          <p:nvPr/>
        </p:nvSpPr>
        <p:spPr>
          <a:xfrm>
            <a:off x="6144768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311810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Attach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344728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.txt/.md file so the model reasons over that context.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074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636008"/>
            <a:ext cx="457200" cy="457200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458114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Replies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491032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answered in English, Spanish, or Hindi on request.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4434840"/>
            <a:ext cx="5074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44768" y="4636008"/>
            <a:ext cx="457200" cy="457200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31" name="Text 29"/>
          <p:cNvSpPr/>
          <p:nvPr/>
        </p:nvSpPr>
        <p:spPr>
          <a:xfrm>
            <a:off x="6144768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12280" y="458114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12280" y="491032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the conversation and pre-fills a booking form.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897880"/>
            <a:ext cx="5074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6099048"/>
            <a:ext cx="457200" cy="457200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6099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417320" y="60441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Passport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17320" y="637336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record of resolved inquiries, stamped per department.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5897880"/>
            <a:ext cx="5074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44768" y="6099048"/>
            <a:ext cx="457200" cy="457200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41" name="Text 39"/>
          <p:cNvSpPr/>
          <p:nvPr/>
        </p:nvSpPr>
        <p:spPr>
          <a:xfrm>
            <a:off x="6144768" y="6099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12280" y="60441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Office Finder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12280" y="637336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 when the citizen wants a human, in person.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Feature Map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Information Desk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331720" cy="1371600"/>
          </a:xfrm>
          <a:prstGeom prst="rect">
            <a:avLst/>
          </a:prstGeom>
          <a:solidFill>
            <a:srgbClr val="27374B"/>
          </a:solidFill>
          <a:ln w="12700">
            <a:solidFill>
              <a:srgbClr val="4A5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0487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civic-info-desk.html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JS, no framework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80360" y="2286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1874520"/>
            <a:ext cx="2331720" cy="1371600"/>
          </a:xfrm>
          <a:prstGeom prst="rect">
            <a:avLst/>
          </a:prstGeom>
          <a:solidFill>
            <a:srgbClr val="27374B"/>
          </a:solidFill>
          <a:ln w="12700">
            <a:solidFill>
              <a:srgbClr val="4A5A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011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40487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 · /api/extract-booking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32120" y="2286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852160" y="1874520"/>
            <a:ext cx="2331720" cy="1371600"/>
          </a:xfrm>
          <a:prstGeom prst="rect">
            <a:avLst/>
          </a:prstGeom>
          <a:solidFill>
            <a:srgbClr val="27374B"/>
          </a:solidFill>
          <a:ln w="12700">
            <a:solidFill>
              <a:srgbClr val="4A5A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11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89320" y="240487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 wrapper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request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83880" y="2286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503920" y="1874520"/>
            <a:ext cx="2331720" cy="1371600"/>
          </a:xfrm>
          <a:prstGeom prst="rect">
            <a:avLst/>
          </a:prstGeom>
          <a:solidFill>
            <a:srgbClr val="A93226"/>
          </a:solidFill>
          <a:ln w="12700">
            <a:solidFill>
              <a:srgbClr val="4A5A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2011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41080" y="240487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genailab.tcs.in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routing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SHAPE  ·  /api/chat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5760720" cy="2148840"/>
          </a:xfrm>
          <a:prstGeom prst="rect">
            <a:avLst/>
          </a:prstGeom>
          <a:solidFill>
            <a:srgbClr val="141D28"/>
          </a:solidFill>
          <a:ln w="12700">
            <a:solidFill>
              <a:srgbClr val="4A5A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062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buNone/>
            </a:pPr>
            <a:r>
              <a:rPr lang="en-US" sz="130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buNone/>
            </a:pPr>
            <a:r>
              <a:rPr lang="en-US" sz="13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"category"</a:t>
            </a:r>
            <a:pPr indent="0" marL="0">
              <a:buNone/>
            </a:pPr>
            <a:r>
              <a:rPr lang="en-US" sz="13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"mode"</a:t>
            </a:r>
            <a:pPr indent="0" marL="0">
              <a:buNone/>
            </a:pPr>
            <a:r>
              <a:rPr lang="en-US" sz="13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"language"</a:t>
            </a:r>
            <a:pPr indent="0" marL="0">
              <a:buNone/>
            </a:pPr>
            <a:r>
              <a:rPr lang="en-US" sz="13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"context"</a:t>
            </a:r>
            <a:pPr indent="0" marL="0">
              <a:buNone/>
            </a:pPr>
            <a:r>
              <a:rPr lang="en-US" sz="13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mode pick a persona + suffix from a Python dict; language appends a one-line instruction; context is prepended to the citizen's message before the single llm.invoke() call.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4023360"/>
            <a:ext cx="4892040" cy="2148840"/>
          </a:xfrm>
          <a:prstGeom prst="rect">
            <a:avLst/>
          </a:prstGeom>
          <a:solidFill>
            <a:srgbClr val="27374B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4224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LITELLM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4553712"/>
            <a:ext cx="4434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talks to one OpenAI-compatible endpoint (LITELLM_BASE_URL / MODEL / API_KEY in .env). Swapping the underlying model — or pointing at a different provider entirely — is a config change, not a code change.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Information Desk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rulebook, four voices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persona is BASE_RULES + a short voice paragraph. The shared rules keep the assistant accurate and in character; only tone and emphasis change per department.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607040" cy="1234440"/>
          </a:xfrm>
          <a:prstGeom prst="rect">
            <a:avLst/>
          </a:prstGeom>
          <a:solidFill>
            <a:srgbClr val="EFE9DA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BASE_RULES  (shared by every persona)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sentence answers  ·  warm, direct replies to greetings and small talk  ·  plainly redirects out-of-scope questions  ·  never invents fees, dates, or phone numbers  ·  never breaks character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520440"/>
            <a:ext cx="2514600" cy="384048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204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402336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Brisk, efficient, no wasted words — answer first.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352044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3520440"/>
            <a:ext cx="2514600" cy="384048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35204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402336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and reassuring — flags how to avoid a penalty.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0176" y="352044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0176" y="3520440"/>
            <a:ext cx="2514600" cy="384048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8" name="Text 16"/>
          <p:cNvSpPr/>
          <p:nvPr/>
        </p:nvSpPr>
        <p:spPr>
          <a:xfrm>
            <a:off x="5980176" y="35204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4768" y="402336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a little wry, never sarcastic toward the citizen.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95944" y="352044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95944" y="3520440"/>
            <a:ext cx="2514600" cy="384048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22" name="Text 20"/>
          <p:cNvSpPr/>
          <p:nvPr/>
        </p:nvSpPr>
        <p:spPr>
          <a:xfrm>
            <a:off x="8695944" y="35204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0536" y="402336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front-desk voice — helps you find the right window.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1663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Check mode appends one more block on top of the chosen persona: a fixed 3-part structure — Verdict → Why → Before you apply — for "am I going to need a permit?" questions.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Prompt Design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Information Desk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after a citizen hits send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1943100"/>
            <a:ext cx="182880" cy="0"/>
          </a:xfrm>
          <a:prstGeom prst="line">
            <a:avLst/>
          </a:prstGeom>
          <a:noFill/>
          <a:ln w="25400">
            <a:solidFill>
              <a:srgbClr val="CBBF9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check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70632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keyword check: is this a booking or "find an office" request? If so, skip the AI call and open that flow directly.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502920" cy="50292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1943100"/>
            <a:ext cx="182880" cy="0"/>
          </a:xfrm>
          <a:prstGeom prst="line">
            <a:avLst/>
          </a:prstGeom>
          <a:noFill/>
          <a:ln w="25400">
            <a:solidFill>
              <a:srgbClr val="CBBF9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291840" y="2377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animation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770632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three-step ledger animation plays (received → reviewing → drafting) while the request is in flight.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502920" cy="50292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0" y="1943100"/>
            <a:ext cx="182880" cy="0"/>
          </a:xfrm>
          <a:prstGeom prst="line">
            <a:avLst/>
          </a:prstGeom>
          <a:noFill/>
          <a:ln w="25400">
            <a:solidFill>
              <a:srgbClr val="CBBF9E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035040" y="2377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2770632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/api/chat sends message, category, mode, language, and any attached context to the backend.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78240" y="1691640"/>
            <a:ext cx="502920" cy="502920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778240" y="2377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 reply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78240" y="2770632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clerk's answer is rendered as a ledger entry, a passport stamp is added, and the entry is saved to localStorage.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0607040" cy="123444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138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54406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 check pings /health on load and after every call, an offline dot appears if the backend drops, and a global window error handler falls back to the home view — so one broken feature (e.g. a blocked mic API) never blanks the page.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User Journey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Information Desk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also fills out the 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/api/extract-booking sends the last 8 exchanges back to the same model, but asks for structured data instead of prose — a second use of the model beyond answering questions.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6032" cy="256032"/>
          </a:xfrm>
          <a:prstGeom prst="ellipse">
            <a:avLst/>
          </a:prstGeom>
          <a:solidFill>
            <a:srgbClr val="5771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45973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ONLY one JSON object — no markdown fences, no commentary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256032" cy="256032"/>
          </a:xfrm>
          <a:prstGeom prst="ellipse">
            <a:avLst/>
          </a:prstGeom>
          <a:solidFill>
            <a:srgbClr val="5771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815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02666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contact, date, time, department, reason — fixed key set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256032" cy="256032"/>
          </a:xfrm>
          <a:prstGeom prst="ellipse">
            <a:avLst/>
          </a:prstGeom>
          <a:solidFill>
            <a:srgbClr val="57715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48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59359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string for anything not explicitly stated, never guessed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256032" cy="256032"/>
          </a:xfrm>
          <a:prstGeom prst="ellipse">
            <a:avLst/>
          </a:prstGeom>
          <a:solidFill>
            <a:srgbClr val="57715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153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1605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still strips ``` fences and re-validates before responding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1417320"/>
            <a:ext cx="4663440" cy="443484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645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205740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"Maria Ibarra",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"contact": "",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"2026-08-04",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"time": "",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"department": "tax",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"reason": "Late property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tax payment"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23760" y="4572000"/>
            <a:ext cx="4114800" cy="0"/>
          </a:xfrm>
          <a:prstGeom prst="line">
            <a:avLst/>
          </a:prstGeom>
          <a:noFill/>
          <a:ln w="12700">
            <a:solidFill>
              <a:srgbClr val="4A5A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470916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invented: contact, date, and time stay blank rather than fabricated — the prompt explicitly forbids guessing.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Structured Extraction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Information Desk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under the hood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469880" cy="45720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2316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00600" y="15544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23160" y="201168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file, vanilla JS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2011680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ledger UI, localStorage state (passport, appointments, chat history)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24912"/>
            <a:ext cx="10469880" cy="713232"/>
          </a:xfrm>
          <a:prstGeom prst="rect">
            <a:avLst/>
          </a:prstGeom>
          <a:solidFill>
            <a:srgbClr val="EFE9D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24912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23160" y="2724912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flask-cors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724912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JSON endpoints: /api/chat and /api/extract-booking, plus /health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438144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23160" y="3438144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ChatOpenAI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438144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Thin, swappable wrapper around a single llm.invoke() call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51376"/>
            <a:ext cx="10469880" cy="713232"/>
          </a:xfrm>
          <a:prstGeom prst="rect">
            <a:avLst/>
          </a:prstGeom>
          <a:solidFill>
            <a:srgbClr val="EFE9D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51376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23160" y="4151376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(genailab.tcs.in)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4151376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proxy — model name is one .env variable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4864608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23160" y="4864608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/ .env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4864608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BASE_URL, API_KEY, MODEL fail fast at startup if missing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0469880" cy="0"/>
          </a:xfrm>
          <a:prstGeom prst="line">
            <a:avLst/>
          </a:prstGeom>
          <a:noFill/>
          <a:ln w="12700">
            <a:solidFill>
              <a:srgbClr val="CBBF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Tech Stack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Information Desk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built into the prompts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871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19656"/>
            <a:ext cx="420624" cy="420624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19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facts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898648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dates, and phone numbers are always described in general terms — never invented figures.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55264" y="1600200"/>
            <a:ext cx="24871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819656"/>
            <a:ext cx="420624" cy="420624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819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56432" y="24231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character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56432" y="2898648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rules explicitly forbid meta-commentary about being an AI, keeping the civic-clerk framing consistent.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61888" y="1600200"/>
            <a:ext cx="24871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9656"/>
            <a:ext cx="420624" cy="420624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1819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63056" y="24231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limits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63056" y="2898648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unrelated questions get a plain redirect to the right department, not a forced answer.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68512" y="1600200"/>
            <a:ext cx="24871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BF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87968" y="1819656"/>
            <a:ext cx="420624" cy="420624"/>
          </a:xfrm>
          <a:prstGeom prst="ellipse">
            <a:avLst/>
          </a:prstGeom>
          <a:solidFill>
            <a:srgbClr val="A93226"/>
          </a:solidFill>
          <a:ln/>
        </p:spPr>
      </p:sp>
      <p:sp>
        <p:nvSpPr>
          <p:cNvPr id="21" name="Text 19"/>
          <p:cNvSpPr/>
          <p:nvPr/>
        </p:nvSpPr>
        <p:spPr>
          <a:xfrm>
            <a:off x="8887968" y="1819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0" y="24231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simulation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869680" y="2898648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itself discloses that booking and nearby-office data are simulated — AI answers are the only live part.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external filters bolted on afterward — they're written directly into BASE_RULES, so every persona inherits them automatically.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Guardrails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Information Desk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production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51560" cy="960120"/>
          </a:xfrm>
          <a:prstGeom prst="rect">
            <a:avLst/>
          </a:prstGeom>
          <a:solidFill>
            <a:srgbClr val="A932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83080" y="160020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600200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LLM answers via LiteLLM; booking, passport, and office-finder are simulated for demo purposes.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051560" cy="96012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69748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integrations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booking to an actual scheduling system and nearby-office data to a live directory or maps API.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051560" cy="96012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94760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379476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memory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794760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chat/passport history from localStorage to an account-backed store for continuity across devices.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051560" cy="96012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92040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83080" y="489204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QA loop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4892040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intents and "not satisfied" escalations to see where the AI is falling short of a human clerk.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Roadmap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Information Desk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A93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480560"/>
            <a:ext cx="3474720" cy="3474720"/>
          </a:xfrm>
          <a:prstGeom prst="ellipse">
            <a:avLst/>
          </a:prstGeom>
          <a:solidFill>
            <a:srgbClr val="D9C98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the persona design, the LiteLLM setup, or where this goes next?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2011680" cy="0"/>
          </a:xfrm>
          <a:prstGeom prst="line">
            <a:avLst/>
          </a:prstGeom>
          <a:noFill/>
          <a:ln w="31750">
            <a:solidFill>
              <a:srgbClr val="A93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INFORMATION DESK  ·  AI CLERK PROTOTYPE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2026-07-24T04:46:21Z</dcterms:created>
  <dcterms:modified xsi:type="dcterms:W3CDTF">2026-07-24T04:46:21Z</dcterms:modified>
</cp:coreProperties>
</file>